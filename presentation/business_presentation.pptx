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Business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Week 8 Capstone</a:t>
            </a:r>
          </a:p>
          <a:p>
            <a:pPr>
              <a:spcAft>
                <a:spcPts val="1000"/>
              </a:spcAft>
              <a:defRPr sz="2000"/>
            </a:pPr>
            <a:r>
              <a:t>End-to-end analytics → insights →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Identify churn drivers.</a:t>
            </a:r>
          </a:p>
          <a:p>
            <a:pPr>
              <a:spcAft>
                <a:spcPts val="1000"/>
              </a:spcAft>
              <a:defRPr sz="2000"/>
            </a:pPr>
            <a:r>
              <a:t>Validate evidence statistically.</a:t>
            </a:r>
          </a:p>
          <a:p>
            <a:pPr>
              <a:spcAft>
                <a:spcPts val="1000"/>
              </a:spcAft>
              <a:defRPr sz="2000"/>
            </a:pPr>
            <a:r>
              <a:t>Prioritize risk and recommend retention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500 customers; 9 original fields.</a:t>
            </a:r>
          </a:p>
          <a:p>
            <a:pPr>
              <a:spcAft>
                <a:spcPts val="1000"/>
              </a:spcAft>
              <a:defRPr sz="2000"/>
            </a:pPr>
            <a:r>
              <a:t>0 missing values; 0 duplicates.</a:t>
            </a:r>
          </a:p>
          <a:p>
            <a:pPr>
              <a:spcAft>
                <a:spcPts val="1000"/>
              </a:spcAft>
              <a:defRPr sz="2000"/>
            </a:pPr>
            <a:r>
              <a:t>Target: Churn.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663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Overall churn: 10.6%</a:t>
            </a:r>
          </a:p>
          <a:p>
            <a:pPr>
              <a:spcAft>
                <a:spcPts val="1000"/>
              </a:spcAft>
              <a:defRPr sz="2000"/>
            </a:pPr>
            <a:r>
              <a:t>Segment analysis identifies where retention resources should focus.</a:t>
            </a:r>
          </a:p>
        </p:txBody>
      </p:sp>
      <p:pic>
        <p:nvPicPr>
          <p:cNvPr id="4" name="Picture 3" descr="01_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5943600" cy="3331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663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Month-to-month: 20.6%</a:t>
            </a:r>
          </a:p>
          <a:p>
            <a:pPr>
              <a:spcAft>
                <a:spcPts val="1000"/>
              </a:spcAft>
              <a:defRPr sz="2000"/>
            </a:pPr>
            <a:r>
              <a:t>One year: 4.3%</a:t>
            </a:r>
          </a:p>
          <a:p>
            <a:pPr>
              <a:spcAft>
                <a:spcPts val="1000"/>
              </a:spcAft>
              <a:defRPr sz="2000"/>
            </a:pPr>
            <a:r>
              <a:t>Two year: 6.9%</a:t>
            </a:r>
          </a:p>
          <a:p>
            <a:pPr>
              <a:spcAft>
                <a:spcPts val="1000"/>
              </a:spcAft>
              <a:defRPr sz="2000"/>
            </a:pPr>
            <a:r>
              <a:t>Statistically significant association.</a:t>
            </a:r>
          </a:p>
        </p:txBody>
      </p:sp>
      <p:pic>
        <p:nvPicPr>
          <p:cNvPr id="4" name="Picture 3" descr="02_churn_by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5943600" cy="3331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Tenure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663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Churned customers have significantly lower tenure.</a:t>
            </a:r>
          </a:p>
          <a:p>
            <a:pPr>
              <a:spcAft>
                <a:spcPts val="1000"/>
              </a:spcAft>
              <a:defRPr sz="2000"/>
            </a:pPr>
            <a:r>
              <a:t>Welch t-test p &lt; 0.001.</a:t>
            </a:r>
          </a:p>
          <a:p>
            <a:pPr>
              <a:spcAft>
                <a:spcPts val="1000"/>
              </a:spcAft>
              <a:defRPr sz="2000"/>
            </a:pPr>
            <a:r>
              <a:t>Use early-life support as a retention lever.</a:t>
            </a:r>
          </a:p>
        </p:txBody>
      </p:sp>
      <p:pic>
        <p:nvPicPr>
          <p:cNvPr id="4" name="Picture 3" descr="03_tenure_vs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5943600" cy="330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663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Secondary segmentation signal.</a:t>
            </a:r>
          </a:p>
          <a:p>
            <a:pPr>
              <a:spcAft>
                <a:spcPts val="1000"/>
              </a:spcAft>
              <a:defRPr sz="2000"/>
            </a:pPr>
            <a:r>
              <a:t>Use for targeted experiments, not assumptions of causality.</a:t>
            </a:r>
          </a:p>
        </p:txBody>
      </p:sp>
      <p:pic>
        <p:nvPicPr>
          <p:cNvPr id="4" name="Picture 3" descr="04_churn_by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5943600" cy="33195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Chi-square: Contract × Churn.</a:t>
            </a:r>
          </a:p>
          <a:p>
            <a:pPr>
              <a:spcAft>
                <a:spcPts val="1000"/>
              </a:spcAft>
              <a:defRPr sz="2000"/>
            </a:pPr>
            <a:r>
              <a:t>Welch t-test: Tenure.</a:t>
            </a:r>
          </a:p>
          <a:p>
            <a:pPr>
              <a:spcAft>
                <a:spcPts val="1000"/>
              </a:spcAft>
              <a:defRPr sz="2000"/>
            </a:pPr>
            <a:r>
              <a:t>Welch t-test: Monthly Charges.</a:t>
            </a:r>
          </a:p>
          <a:p>
            <a:pPr>
              <a:spcAft>
                <a:spcPts val="1000"/>
              </a:spcAft>
              <a:defRPr sz="2000"/>
            </a:pPr>
            <a:r>
              <a:t>All provide complementary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663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Logistic regression with encoded categorical + standardized numeric variables.</a:t>
            </a:r>
          </a:p>
          <a:p>
            <a:pPr>
              <a:spcAft>
                <a:spcPts val="1000"/>
              </a:spcAft>
              <a:defRPr sz="2000"/>
            </a:pPr>
            <a:r>
              <a:t>Accuracy 95.0% | Precision 100.0% | Recall 54.5% | F1 70.6% | ROC-AUC 0.981</a:t>
            </a:r>
          </a:p>
        </p:txBody>
      </p:sp>
      <p:pic>
        <p:nvPicPr>
          <p:cNvPr id="4" name="Picture 3" descr="06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5943600" cy="55177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Contract conversion</a:t>
            </a:r>
          </a:p>
          <a:p>
            <a:pPr>
              <a:spcAft>
                <a:spcPts val="1000"/>
              </a:spcAft>
              <a:defRPr sz="2000"/>
            </a:pPr>
            <a:r>
              <a:t>First-year onboarding/support</a:t>
            </a:r>
          </a:p>
          <a:p>
            <a:pPr>
              <a:spcAft>
                <a:spcPts val="1000"/>
              </a:spcAft>
              <a:defRPr sz="2000"/>
            </a:pPr>
            <a:r>
              <a:t>Billing/payment assistance</a:t>
            </a:r>
          </a:p>
          <a:p>
            <a:pPr>
              <a:spcAft>
                <a:spcPts val="1000"/>
              </a:spcAft>
              <a:defRPr sz="2000"/>
            </a:pPr>
            <a:r>
              <a:t>Risk-prioritized outreach</a:t>
            </a:r>
          </a:p>
          <a:p>
            <a:pPr>
              <a:spcAft>
                <a:spcPts val="1000"/>
              </a:spcAft>
              <a:defRPr sz="2000"/>
            </a:pPr>
            <a:r>
              <a:t>A/B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90-Day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0–30: baseline + pilot</a:t>
            </a:r>
          </a:p>
          <a:p>
            <a:pPr>
              <a:spcAft>
                <a:spcPts val="1000"/>
              </a:spcAft>
              <a:defRPr sz="2000"/>
            </a:pPr>
            <a:r>
              <a:t>31–60: controlled experiments</a:t>
            </a:r>
          </a:p>
          <a:p>
            <a:pPr>
              <a:spcAft>
                <a:spcPts val="1000"/>
              </a:spcAft>
              <a:defRPr sz="2000"/>
            </a:pPr>
            <a:r>
              <a:t>61–90: scale winners + model validation</a:t>
            </a:r>
          </a:p>
          <a:p>
            <a:pPr>
              <a:spcAft>
                <a:spcPts val="1000"/>
              </a:spcAft>
              <a:defRPr sz="2000"/>
            </a:pPr>
            <a:r>
              <a:t>Primary KPI: incremental churn reduction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Focus retention on the highest-risk segments.</a:t>
            </a:r>
          </a:p>
          <a:p>
            <a:pPr>
              <a:spcAft>
                <a:spcPts val="1000"/>
              </a:spcAft>
              <a:defRPr sz="2000"/>
            </a:pPr>
            <a:r>
              <a:t>Turn statistical findings into controlled business actions.</a:t>
            </a:r>
          </a:p>
          <a:p>
            <a:pPr>
              <a:spcAft>
                <a:spcPts val="1000"/>
              </a:spcAft>
              <a:defRPr sz="2000"/>
            </a:pPr>
            <a:r>
              <a:t>Measure results against a control group.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